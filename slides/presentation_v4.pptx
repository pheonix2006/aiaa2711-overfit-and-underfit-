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everyone. My name is [Speaker 1], and together with [Speaker 2] and [Speaker 3], we will present our study on overfitting and underfitting in machine learning. (10s)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[INTERACTION] Show 3 plots. Ask audience: 'Which polynomial would you trust to predict a new data point?' Quick hand raise for degree 1, 4, 15.</a:t>
            </a:r>
          </a:p>
          <a:p/>
          <a:p>
            <a:r>
              <a:t>'This is the fundamental tension in ML — too simple vs too complex. Today we derive the mathematics behind WHY this happens and HOW to fix it.' (50s)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Define training and test error formally. Underfitting = high training error; overfitting = large gap between train and test. 'The generalization gap is our diagnostic.' (40s)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Training error always decreases, but test error has a U-shape. The sweet spot is around degree 3–5. We explain this via bias-variance decomposition. 'This uses expectation and variance from Weeks 9 and 10.' (20s)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up the bias-variance framework. y = f(x) + noise. We train f-hat on dataset D. The key insight: expectation is over ALL possible training sets D. (40s)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 SLIDE 6a - Step through EVERY term]</a:t>
            </a:r>
          </a:p>
          <a:p>
            <a:r>
              <a:t>Step 1: Substitute y=f+eps, expand square -&gt; 3 terms. Cross-term: eps independent of f-hat, E[eps]=0, so cross-term=0. E[eps^2]=sigma^2.</a:t>
            </a:r>
          </a:p>
          <a:p>
            <a:r>
              <a:t>Step 2: Let f-bar = E_D[f-hat]. Add-subtract f-bar, expand -&gt; 3 terms. Cross-term: E_D[f-bar - f-hat] = f-bar - f-bar = 0 by definition. (50s)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 SLIDE 6b] Present boxed result. Interpret: Bias = avg model distance from truth (underfitting). Variance = prediction fluctuation (overfitting). sigma^2 = noise floor.</a:t>
            </a:r>
          </a:p>
          <a:p>
            <a:r>
              <a:t>[POINT TO FIGURE] Monte Carlo with 200 datasets: blue=bias drops, orange=variance rises, sum = U-shape, minimum at degree 3-4. 'Theory predicts, experiments confirm.' (40s)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[Speaker 2] 'We know WHY overfitting happens — high variance. How do we FIX it? By constraining complexity. Ridge adds an L2 penalty — the Euclidean norm from Week 3.' (30s)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Ridge closed-form: only difference from OLS is +alphaI.</a:t>
            </a:r>
          </a:p>
          <a:p>
            <a:r>
              <a:t>[POINT TO LEFT FIGURE] Eigenvalue view: small eigenvalues make OLS unstable. Adding alpha shifts all eigenvalues right, stabilizing inversion.</a:t>
            </a:r>
          </a:p>
          <a:p>
            <a:r>
              <a:t>[POINT TO RIGHT FIGURE] Lagrangian view: Ridge is constrained optimization. The circle is ||w||^2 &lt;= t. The ellipses are loss contours. The tangent point is the Ridge solution.</a:t>
            </a:r>
          </a:p>
          <a:p>
            <a:r>
              <a:t>'Small bias increase buys large variance decrease.' (80s)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[POINT TO LEFT FIGURE] L2 ball = circle, tangent point not on axes (both w1 and w2 non-zero). L1 ball = diamond with corners ON axes. The contour hits a corner -&gt; w2=0. That's sparsity!</a:t>
            </a:r>
          </a:p>
          <a:p>
            <a:r>
              <a:t>[POINT TO RIGHT FIGURE] Ridge coefficients shrink smoothly. Lasso coefficients drop to exactly zero one by one.</a:t>
            </a:r>
          </a:p>
          <a:p>
            <a:r>
              <a:t>'Lasso = regularization + feature selection.' (60s)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'How to choose alpha? K-fold cross-validation. 4 steps: partition, train, average, select. Gives unbiased test error estimate without separate validation set.' (30s)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[Speaker 3] 'We made 3 predictions from theory and tested all 3 experimentally. U-shaped error: confirmed. Bias down, variance up: Monte Carlo confirms. Ridge shrinks coefficients: confirmed. Theory works.' (50s)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'Same principle applies to neural networks — shallow underfits, deep overfits. 3 takeaways: (1) B-V decomposition explains tradeoff; (2) Regularization controls complexity; (3) Cross-validation selects balance point.' (40s)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[INTERACTION] Read scenario. Pause 5s for audience thinking.</a:t>
            </a:r>
          </a:p>
          <a:p>
            <a:r>
              <a:t>'Generalization gap is 39% — clearly overfitting. Fix: add regularization or reduce complexity.' Thank you. Open for Q&amp;A. (30s)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12191695" cy="54864"/>
          </a:xfrm>
          <a:prstGeom prst="rect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Overfitting and Underfitting</a:t>
            </a:r>
            <a:br/>
            <a:r>
              <a:t>in 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BBBBBB"/>
                </a:solidFill>
                <a:latin typeface="Calibri"/>
              </a:defRPr>
            </a:pPr>
            <a:r>
              <a:t>AIAA 2711 — Spring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99999"/>
                </a:solidFill>
                <a:latin typeface="Calibri"/>
              </a:defRPr>
            </a:pPr>
            <a:r>
              <a:t>Member A  ·  Member B  ·  Member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1 /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6A9F"/>
                </a:solidFill>
                <a:latin typeface="Calibri"/>
              </a:defRPr>
            </a:pPr>
            <a:r>
              <a:t>The Hook: Which Model Do You Trust?</a:t>
            </a:r>
          </a:p>
        </p:txBody>
      </p:sp>
      <p:pic>
        <p:nvPicPr>
          <p:cNvPr id="4" name="Picture 3" descr="polynomial_fi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0"/>
            <a:ext cx="10515600" cy="269157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120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86C00"/>
                </a:solidFill>
                <a:latin typeface="Calibri"/>
              </a:defRPr>
            </a:pPr>
            <a:r>
              <a:t>✨ Vote by show of hands: degree 1, degree 4, or degree 15?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5760720"/>
            <a:ext cx="6400800" cy="365760"/>
          </a:xfrm>
          <a:prstGeom prst="rect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Interactive Question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6126480"/>
            <a:ext cx="6400800" cy="36576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1A1A2E"/>
                </a:solidFill>
                <a:latin typeface="Calibri"/>
              </a:defRPr>
            </a:pPr>
            <a:r>
              <a:t>Which polynomial would you trust to predict a NEW data point?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Calibri"/>
              </a:defRPr>
            </a:pPr>
            <a:r>
              <a:t>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6A9F"/>
                </a:solidFill>
                <a:latin typeface="Calibri"/>
              </a:defRPr>
            </a:pPr>
            <a:r>
              <a:t>Formal Definitions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Calibri"/>
              </a:defRPr>
            </a:pPr>
            <a:r>
              <a:t>Training Error: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2907792" cy="42062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2743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Calibri"/>
              </a:defRPr>
            </a:pPr>
            <a:r>
              <a:t>Test Error: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3200400"/>
            <a:ext cx="2820924" cy="42062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D6A9F"/>
                </a:solidFill>
                <a:latin typeface="Calibri"/>
              </a:defRPr>
            </a:pPr>
            <a:r>
              <a:t>Underfitting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9202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55555"/>
                </a:solidFill>
                <a:latin typeface="Calibri"/>
              </a:defRPr>
            </a:pPr>
            <a:r>
              <a:t>E_train is HIGH — model too simple.</a:t>
            </a:r>
            <a:br/>
            <a:r>
              <a:t>Both training and test errors are large.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9260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86C00"/>
                </a:solidFill>
                <a:latin typeface="Calibri"/>
              </a:defRPr>
            </a:pPr>
            <a:r>
              <a:t>Overfitting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4747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55555"/>
                </a:solidFill>
                <a:latin typeface="Calibri"/>
              </a:defRPr>
            </a:pPr>
            <a:r>
              <a:t>E_train ≪ E_test — generalization gap.</a:t>
            </a:r>
            <a:br/>
            <a:r>
              <a:t>Model memorizes noise in training data.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Key Message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0" y="5212080"/>
            <a:ext cx="8229600" cy="41148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1A1A2E"/>
                </a:solidFill>
                <a:latin typeface="Calibri"/>
              </a:defRPr>
            </a:pPr>
            <a:r>
              <a:t>The generalization gap (E_test − E_train) is our diagnostic tool.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Calibri"/>
              </a:defRPr>
            </a:pPr>
            <a:r>
              <a:t>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6A9F"/>
                </a:solidFill>
                <a:latin typeface="Calibri"/>
              </a:defRPr>
            </a:pPr>
            <a:r>
              <a:t>Why Does Test Error Follow a U-Shape?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•  Training error ↓ monotonically with complexity</a:t>
            </a:r>
          </a:p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•  Test error is U-shaped</a:t>
            </a:r>
          </a:p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•  Minimum near degree 3–5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86C00"/>
                </a:solidFill>
                <a:latin typeface="Calibri"/>
              </a:defRPr>
            </a:pPr>
            <a:r>
              <a:t>The Answer: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02336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2E"/>
                </a:solidFill>
                <a:latin typeface="Calibri"/>
              </a:defRPr>
            </a:pPr>
            <a:r>
              <a:t>Bias-Variance Decomposition</a:t>
            </a:r>
            <a:br/>
            <a:r>
              <a:t>(uses expectation &amp; variance from Weeks 9–10)</a:t>
            </a:r>
          </a:p>
        </p:txBody>
      </p:sp>
      <p:pic>
        <p:nvPicPr>
          <p:cNvPr id="7" name="Picture 6" descr="error_vs_complex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097280"/>
            <a:ext cx="5303520" cy="325361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Calibri"/>
              </a:defRPr>
            </a:pPr>
            <a:r>
              <a:t>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6A9F"/>
                </a:solidFill>
                <a:latin typeface="Calibri"/>
              </a:defRPr>
            </a:pPr>
            <a:r>
              <a:t>Bias-Variance Decomposition: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Calibri"/>
              </a:defRPr>
            </a:pPr>
            <a:r>
              <a:t>Data Model: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737360"/>
            <a:ext cx="3383280" cy="3840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274320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f(x) : true underlying function</a:t>
            </a:r>
          </a:p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ƒ̂(x) : model trained on dataset D</a:t>
            </a:r>
          </a:p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ε : irreducible noise (Gaussian)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389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Calibri"/>
              </a:defRPr>
            </a:pPr>
            <a:r>
              <a:t>Our Goal — decompose: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4937760"/>
            <a:ext cx="2052828" cy="58978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400800" y="2286000"/>
            <a:ext cx="5029200" cy="365760"/>
          </a:xfrm>
          <a:prstGeom prst="rect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Key Point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2651760"/>
            <a:ext cx="5029200" cy="73152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1A1A2E"/>
                </a:solidFill>
                <a:latin typeface="Calibri"/>
              </a:defRPr>
            </a:pPr>
            <a:r>
              <a:t>The expectation is over ALL possible training datasets D. We ask: on average, across all training sets we could draw, how far off is our model?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Calibri"/>
              </a:defRPr>
            </a:pPr>
            <a:r>
              <a:t>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D6A9F"/>
                </a:solidFill>
                <a:latin typeface="Calibri"/>
              </a:defRPr>
            </a:pPr>
            <a:r>
              <a:t>Bias-Variance Derivation: Step-by-Step 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86C00"/>
                </a:solidFill>
                <a:latin typeface="Calibri"/>
              </a:defRPr>
            </a:pPr>
            <a:r>
              <a:t>Step 1: Substitute y = f + ε and expand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63040"/>
            <a:ext cx="4219956" cy="320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21031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Calibri"/>
              </a:defRPr>
            </a:pPr>
            <a:r>
              <a:t>Cross-term: ε is independent of ƒ̂, and f is fixed, so</a:t>
            </a:r>
            <a:br/>
            <a:r>
              <a:t>E[ε(f − ƒ̂)] = E[ε] · E[f − ƒ̂] = 0 · (…) = 0    Also: E[ε²] = σ²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2834640"/>
            <a:ext cx="2866644" cy="42062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3566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86C00"/>
                </a:solidFill>
                <a:latin typeface="Calibri"/>
              </a:defRPr>
            </a:pPr>
            <a:r>
              <a:t>Step 2: Let ƒ̄ ≡ E_D[ƒ̂], add-subtract ƒ̄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023360"/>
            <a:ext cx="4288536" cy="5577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22960" y="4937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Calibri"/>
              </a:defRPr>
            </a:pPr>
            <a:r>
              <a:t>Cross-term: E_D[ƒ̄ − ƒ̂] = ƒ̄ − E_D[ƒ̂] = ƒ̄ − ƒ̄ = 0  (by definition of ƒ̄)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Calibri"/>
              </a:defRPr>
            </a:pPr>
            <a:r>
              <a:t>6 / 14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D6A9F"/>
                </a:solidFill>
                <a:latin typeface="Calibri"/>
              </a:defRPr>
            </a:pPr>
            <a:r>
              <a:t>Bias-Variance: Result &amp; Verification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6858000" cy="1463040"/>
          </a:xfrm>
          <a:prstGeom prst="roundRect">
            <a:avLst/>
          </a:prstGeom>
          <a:solidFill>
            <a:srgbClr val="FDF6E3"/>
          </a:solidFill>
          <a:ln w="25400">
            <a:solidFill>
              <a:srgbClr val="E8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6C00"/>
                </a:solidFill>
                <a:latin typeface="Calibri"/>
              </a:defRPr>
            </a:pPr>
            <a:r>
              <a:t>Combining Steps 1 &amp; 2: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4663440" cy="6492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274320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Calibri"/>
              </a:defRPr>
            </a:pPr>
            <a:r>
              <a:t>Interpretation: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200400"/>
            <a:ext cx="3383280" cy="1097280"/>
          </a:xfrm>
          <a:prstGeom prst="roundRect">
            <a:avLst/>
          </a:prstGeom>
          <a:solidFill>
            <a:srgbClr val="E8F0F8"/>
          </a:solidFill>
          <a:ln>
            <a:solidFill>
              <a:srgbClr val="2D6A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2918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D6A9F"/>
                </a:solidFill>
                <a:latin typeface="Calibri"/>
              </a:defRPr>
            </a:pPr>
            <a:r>
              <a:t>Bias²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61188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Calibri"/>
              </a:defRPr>
            </a:pPr>
            <a:r>
              <a:t>Avg model's distance from truth</a:t>
            </a:r>
            <a:br/>
            <a:r>
              <a:t>High bias → underfitting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23360" y="3200400"/>
            <a:ext cx="3383280" cy="1097280"/>
          </a:xfrm>
          <a:prstGeom prst="roundRect">
            <a:avLst/>
          </a:prstGeom>
          <a:solidFill>
            <a:srgbClr val="FDF6E3"/>
          </a:solidFill>
          <a:ln>
            <a:solidFill>
              <a:srgbClr val="E8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6240" y="32918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86C00"/>
                </a:solidFill>
                <a:latin typeface="Calibri"/>
              </a:defRPr>
            </a:pPr>
            <a:r>
              <a:t>Variance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361188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Calibri"/>
              </a:defRPr>
            </a:pPr>
            <a:r>
              <a:t>Prediction fluctuation across datasets</a:t>
            </a:r>
            <a:br/>
            <a:r>
              <a:t>High variance → overfitting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57200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Calibri"/>
              </a:defRPr>
            </a:pPr>
            <a:r>
              <a:t>Complexity ↑ → Bias ↓ Variance ↑    |    Complexity ↓ → Bias ↑ Variance ↓</a:t>
            </a:r>
          </a:p>
        </p:txBody>
      </p:sp>
      <p:pic>
        <p:nvPicPr>
          <p:cNvPr id="15" name="Picture 14" descr="bias_variance_tradeo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914400"/>
            <a:ext cx="4114800" cy="252220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589520" y="484632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55555"/>
                </a:solidFill>
                <a:latin typeface="Calibri"/>
              </a:defRPr>
            </a:pPr>
            <a:r>
              <a:t>Monte Carlo verification</a:t>
            </a:r>
            <a:br/>
            <a:r>
              <a:t>200 independent datasets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303520"/>
            <a:ext cx="6858000" cy="640080"/>
          </a:xfrm>
          <a:prstGeom prst="roundRect">
            <a:avLst/>
          </a:prstGeom>
          <a:solidFill>
            <a:srgbClr val="F5F5F5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53949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Calibri"/>
              </a:defRPr>
            </a:pPr>
            <a:r>
              <a:t>σ² = irreducible noise floor — no model can beat this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Calibri"/>
              </a:defRPr>
            </a:pPr>
            <a:r>
              <a:t>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6A9F"/>
                </a:solidFill>
                <a:latin typeface="Calibri"/>
              </a:defRPr>
            </a:pPr>
            <a:r>
              <a:t>Regularization: Constraining Complexity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A1A2E"/>
                </a:solidFill>
                <a:latin typeface="Calibri"/>
              </a:defRPr>
            </a:pPr>
            <a:r>
              <a:t>High variance → overfitting.  Fix: constrain model complexity.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5029200" cy="2286000"/>
          </a:xfrm>
          <a:prstGeom prst="roundRect">
            <a:avLst/>
          </a:prstGeom>
          <a:solidFill>
            <a:srgbClr val="F5F5F5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2860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Calibri"/>
              </a:defRPr>
            </a:pPr>
            <a:r>
              <a:t>Ordinary Least Squares (no penalty):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926080"/>
            <a:ext cx="2080260" cy="38404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0" y="2103120"/>
            <a:ext cx="5029200" cy="2286000"/>
          </a:xfrm>
          <a:prstGeom prst="roundRect">
            <a:avLst/>
          </a:prstGeom>
          <a:solidFill>
            <a:srgbClr val="E8F0F8"/>
          </a:solidFill>
          <a:ln>
            <a:solidFill>
              <a:srgbClr val="2D6A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22860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6A9F"/>
                </a:solidFill>
                <a:latin typeface="Calibri"/>
              </a:defRPr>
            </a:pPr>
            <a:r>
              <a:t>Ridge Regression (L2 penalty):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2926080"/>
            <a:ext cx="3191256" cy="384048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2286000" y="5029200"/>
            <a:ext cx="7315200" cy="365760"/>
          </a:xfrm>
          <a:prstGeom prst="rect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Course Connection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0" y="5394960"/>
            <a:ext cx="7315200" cy="41148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1A1A2E"/>
                </a:solidFill>
                <a:latin typeface="Calibri"/>
              </a:defRPr>
            </a:pPr>
            <a:r>
              <a:t>The L2 norm is the Euclidean norm from Week 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Calibri"/>
              </a:defRPr>
            </a:pPr>
            <a:r>
              <a:t>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D6A9F"/>
                </a:solidFill>
                <a:latin typeface="Calibri"/>
              </a:defRPr>
            </a:pPr>
            <a:r>
              <a:t>Ridge: Closed-Form &amp; Two Interpretations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Calibri"/>
              </a:defRPr>
            </a:pPr>
            <a:r>
              <a:t>Closed-form: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20" y="960120"/>
            <a:ext cx="2221992" cy="2880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0" y="10515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Calibri"/>
              </a:defRPr>
            </a:pPr>
            <a:r>
              <a:t>vs. OLS: (X'X)⁻¹ X'y — only +αI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669280" cy="3200400"/>
          </a:xfrm>
          <a:prstGeom prst="roundRect">
            <a:avLst/>
          </a:prstGeom>
          <a:solidFill>
            <a:srgbClr val="E8F5E9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7AE60"/>
                </a:solidFill>
                <a:latin typeface="Calibri"/>
              </a:defRPr>
            </a:pPr>
            <a:r>
              <a:t>① Eigenvalue Perspective (Week 5)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011680"/>
            <a:ext cx="5120640" cy="219251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42976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αI shifts eigenvalues right → stabilizes inversion → reduces variance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554480"/>
            <a:ext cx="5303520" cy="3200400"/>
          </a:xfrm>
          <a:prstGeom prst="roundRect">
            <a:avLst/>
          </a:prstGeom>
          <a:solidFill>
            <a:srgbClr val="FDF6E3"/>
          </a:solidFill>
          <a:ln>
            <a:solidFill>
              <a:srgbClr val="E8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16459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6C00"/>
                </a:solidFill>
                <a:latin typeface="Calibri"/>
              </a:defRPr>
            </a:pPr>
            <a:r>
              <a:t>② Lagrangian Perspective (Week 9)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0" y="1920240"/>
            <a:ext cx="2743200" cy="265014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675120" y="2103120"/>
            <a:ext cx="1371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Calibri"/>
              </a:defRPr>
            </a:pPr>
            <a:r>
              <a:t>min ||y−Xw||²</a:t>
            </a:r>
            <a:br/>
            <a:r>
              <a:t>s.t. ||w||² ≤ t</a:t>
            </a:r>
            <a:br/>
            <a:br/>
            <a:r>
              <a:t>α = Lagrange</a:t>
            </a:r>
            <a:br/>
            <a:r>
              <a:t>multiplier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42976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Larger α → smaller ball → simpler model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Key Insight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0" y="5394960"/>
            <a:ext cx="8229600" cy="41148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1A1A2E"/>
                </a:solidFill>
                <a:latin typeface="Calibri"/>
              </a:defRPr>
            </a:pPr>
            <a:r>
              <a:t>Adding αI trades a SMALL bias increase for a LARGE variance decrease.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Calibri"/>
              </a:defRPr>
            </a:pPr>
            <a:r>
              <a:t>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6A9F"/>
                </a:solidFill>
                <a:latin typeface="Calibri"/>
              </a:defRPr>
            </a:pPr>
            <a:r>
              <a:t>Lasso &amp; L1 vs L2 Geometry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Calibri"/>
              </a:defRPr>
            </a:pPr>
            <a:r>
              <a:t>Lasso (L1 penalty):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554480"/>
            <a:ext cx="2907792" cy="356616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103120"/>
            <a:ext cx="7315200" cy="2803331"/>
          </a:xfrm>
          <a:prstGeom prst="rect">
            <a:avLst/>
          </a:prstGeom>
        </p:spPr>
      </p:pic>
      <p:pic>
        <p:nvPicPr>
          <p:cNvPr id="7" name="Picture 6" descr="ridge_vs_lasso_coefficien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1371600"/>
            <a:ext cx="3657600" cy="128271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5029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Calibri"/>
              </a:defRPr>
            </a:pPr>
            <a:r>
              <a:t>L2 circle → smooth shrinkage   |   L1 diamond → corners on axes → sparse solutions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5394960"/>
            <a:ext cx="10972800" cy="365760"/>
          </a:xfrm>
          <a:prstGeom prst="rect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Geometric Insight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5760720"/>
            <a:ext cx="10972800" cy="41148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1A1A2E"/>
                </a:solidFill>
                <a:latin typeface="Calibri"/>
              </a:defRPr>
            </a:pPr>
            <a:r>
              <a:t>The L1 ball has corners on coordinate axes. The optimum lands on corners → coefficients become exactly zero. Lasso = regularization + feature selection.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Calibri"/>
              </a:defRPr>
            </a:pPr>
            <a: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6A9F"/>
                </a:solidFill>
                <a:latin typeface="Calibri"/>
              </a:defRPr>
            </a:pPr>
            <a:r>
              <a:t>Choosing α: K-Fold Cross-Validation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A1A2E"/>
                </a:solidFill>
                <a:latin typeface="Calibri"/>
              </a:defRPr>
            </a:pPr>
            <a:r>
              <a:t>How to choose the regularization parameter α?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2560320" cy="2011680"/>
          </a:xfrm>
          <a:prstGeom prst="roundRect">
            <a:avLst/>
          </a:prstGeom>
          <a:solidFill>
            <a:srgbClr val="E8F0F8"/>
          </a:solidFill>
          <a:ln>
            <a:solidFill>
              <a:srgbClr val="2D6A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6A9F"/>
                </a:solidFill>
                <a:latin typeface="Calibri"/>
              </a:defRPr>
            </a:pPr>
            <a:r>
              <a:t>Step 1: Partition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Calibri"/>
              </a:defRPr>
            </a:pPr>
            <a:r>
              <a:t>Partition data into K equal folds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2286000"/>
            <a:ext cx="2560320" cy="2011680"/>
          </a:xfrm>
          <a:prstGeom prst="roundRect">
            <a:avLst/>
          </a:prstGeom>
          <a:solidFill>
            <a:srgbClr val="FDF6E3"/>
          </a:solidFill>
          <a:ln>
            <a:solidFill>
              <a:srgbClr val="E8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40" y="23774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6C00"/>
                </a:solidFill>
                <a:latin typeface="Calibri"/>
              </a:defRPr>
            </a:pPr>
            <a:r>
              <a:t>Step 2: Train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40" y="292608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Calibri"/>
              </a:defRPr>
            </a:pPr>
            <a:r>
              <a:t>Train on K−1 folds, evaluate on fold 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286000"/>
            <a:ext cx="2560320" cy="2011680"/>
          </a:xfrm>
          <a:prstGeom prst="roundRect">
            <a:avLst/>
          </a:prstGeom>
          <a:solidFill>
            <a:srgbClr val="E8F0F8"/>
          </a:solidFill>
          <a:ln>
            <a:solidFill>
              <a:srgbClr val="2D6A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3774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6A9F"/>
                </a:solidFill>
                <a:latin typeface="Calibri"/>
              </a:defRPr>
            </a:pPr>
            <a:r>
              <a:t>Step 3: Average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92608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Calibri"/>
              </a:defRPr>
            </a:pPr>
            <a:r>
              <a:t>Average the K evaluation scores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0" y="2286000"/>
            <a:ext cx="2560320" cy="2011680"/>
          </a:xfrm>
          <a:prstGeom prst="roundRect">
            <a:avLst/>
          </a:prstGeom>
          <a:solidFill>
            <a:srgbClr val="FDF6E3"/>
          </a:solidFill>
          <a:ln>
            <a:solidFill>
              <a:srgbClr val="E8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0" y="23774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6C00"/>
                </a:solidFill>
                <a:latin typeface="Calibri"/>
              </a:defRPr>
            </a:pPr>
            <a:r>
              <a:t>Step 4: Select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0" y="292608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Calibri"/>
              </a:defRPr>
            </a:pPr>
            <a:r>
              <a:t>Select α that minimizes CV error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Key Advantage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0" y="5212080"/>
            <a:ext cx="8229600" cy="41148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1A1A2E"/>
                </a:solidFill>
                <a:latin typeface="Calibri"/>
              </a:defRPr>
            </a:pPr>
            <a:r>
              <a:t>Unbiased test error estimate WITHOUT a separate validation set — every data point used for both training and evaluation.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Calibri"/>
              </a:defRPr>
            </a:pPr>
            <a: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6A9F"/>
                </a:solidFill>
                <a:latin typeface="Calibri"/>
              </a:defRPr>
            </a:pPr>
            <a:r>
              <a:t>Experimental Verification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188720"/>
          <a:ext cx="64008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600"/>
                <a:gridCol w="2133600"/>
                <a:gridCol w="2133600"/>
              </a:tblGrid>
              <a:tr h="5029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Theory Prediction</a:t>
                      </a:r>
                    </a:p>
                  </a:txBody>
                  <a:tcPr>
                    <a:solidFill>
                      <a:srgbClr val="2D6A9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2D6A9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Result</a:t>
                      </a:r>
                    </a:p>
                  </a:txBody>
                  <a:tcPr>
                    <a:solidFill>
                      <a:srgbClr val="2D6A9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U-shaped test error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Polynomial fits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✅ Confirmed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Bias↓ Variance↑ with complexity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Monte Carlo (200 datasets)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✅ Confirmed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Ridge shrinks coefficients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Ridge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✅ Confirmed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Picture 4" descr="bias_variance_tradeo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097280"/>
            <a:ext cx="4114800" cy="252220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365760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55555"/>
                </a:solidFill>
                <a:latin typeface="Calibri"/>
              </a:defRPr>
            </a:pPr>
            <a:r>
              <a:t>All three theoretical predictions are confirmed experimentally.</a:t>
            </a:r>
            <a:br/>
            <a:r>
              <a:t>The Monte Carlo simulation with 200 datasets verifies the</a:t>
            </a:r>
            <a:br/>
            <a:r>
              <a:t>bias-variance decomposition quantitatively.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Calibri"/>
              </a:defRPr>
            </a:pPr>
            <a: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6A9F"/>
                </a:solidFill>
                <a:latin typeface="Calibri"/>
              </a:defRPr>
            </a:pPr>
            <a:r>
              <a:t>Beyond Polynomials &amp; Key Takeaways</a:t>
            </a:r>
          </a:p>
        </p:txBody>
      </p:sp>
      <p:pic>
        <p:nvPicPr>
          <p:cNvPr id="4" name="Picture 3" descr="dl_synthetic_overfit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5029200" cy="12872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47548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55555"/>
                </a:solidFill>
                <a:latin typeface="Calibri"/>
              </a:defRPr>
            </a:pPr>
            <a:r>
              <a:t>Same bias-variance principle applies to neural networks.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D6A9F"/>
                </a:solidFill>
                <a:latin typeface="Calibri"/>
              </a:defRPr>
            </a:pPr>
            <a:r>
              <a:t>3 Key Takeaways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011680"/>
            <a:ext cx="5303520" cy="1005840"/>
          </a:xfrm>
          <a:prstGeom prst="round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21031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Calibri"/>
              </a:defRPr>
            </a:pPr>
            <a:r>
              <a:t>①  Bias-Variance Decomposition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5146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Calibri"/>
              </a:defRPr>
            </a:pPr>
            <a:r>
              <a:t>explains the underfitting/overfitting tradeoff mathematically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3200400"/>
            <a:ext cx="5303520" cy="1005840"/>
          </a:xfrm>
          <a:prstGeom prst="roundRect">
            <a:avLst/>
          </a:prstGeom>
          <a:solidFill>
            <a:srgbClr val="FDF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32918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Calibri"/>
              </a:defRPr>
            </a:pPr>
            <a:r>
              <a:t>②  Regularization (Ridge L2 / Lasso L1)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37033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Calibri"/>
              </a:defRPr>
            </a:pPr>
            <a:r>
              <a:t>controls complexity via norm penalties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4389120"/>
            <a:ext cx="5303520" cy="100584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44805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Calibri"/>
              </a:defRPr>
            </a:pPr>
            <a:r>
              <a:t>③  Cross-Validation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48920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Calibri"/>
              </a:defRPr>
            </a:pPr>
            <a:r>
              <a:t>selects the optimal balance 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Calibri"/>
              </a:defRPr>
            </a:pPr>
            <a: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6A9F"/>
                </a:solidFill>
                <a:latin typeface="Calibri"/>
              </a:defRPr>
            </a:pPr>
            <a:r>
              <a:t>Quick Challenge &amp; Q&amp;A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188720"/>
            <a:ext cx="9144000" cy="1828800"/>
          </a:xfrm>
          <a:prstGeom prst="roundRect">
            <a:avLst/>
          </a:prstGeom>
          <a:solidFill>
            <a:srgbClr val="FDF6E3"/>
          </a:solidFill>
          <a:ln w="25400">
            <a:solidFill>
              <a:srgbClr val="E8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1371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6C00"/>
                </a:solidFill>
                <a:latin typeface="Calibri"/>
              </a:defRPr>
            </a:pPr>
            <a:r>
              <a:t>Scenario: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8288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2E"/>
                </a:solidFill>
                <a:latin typeface="Calibri"/>
              </a:defRPr>
            </a:pPr>
            <a:r>
              <a:t>A model achieves 99% training accuracy but only 60% test accuracy.</a:t>
            </a:r>
            <a:br/>
            <a:br/>
            <a:r>
              <a:t>Q1: Is this overfitting or underfitting?</a:t>
            </a:r>
            <a:br/>
            <a:r>
              <a:t>Q2: What would you recommend to fix it?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3474720"/>
            <a:ext cx="9144000" cy="137160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3566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7AE60"/>
                </a:solidFill>
                <a:latin typeface="Calibri"/>
              </a:defRPr>
            </a:pPr>
            <a:r>
              <a:t>Answer: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40233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A1A2E"/>
                </a:solidFill>
                <a:latin typeface="Calibri"/>
              </a:defRPr>
            </a:pPr>
            <a:r>
              <a:t>Generalization gap = 39%  →  Overfitting (high variance)</a:t>
            </a:r>
            <a:br/>
            <a:r>
              <a:t>→  Add regularization / reduce model complexity / collect more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303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D6A9F"/>
                </a:solidFill>
                <a:latin typeface="Calibri"/>
              </a:defRPr>
            </a:pPr>
            <a:r>
              <a:t>Thank You — Questions?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Calibri"/>
              </a:defRPr>
            </a:pPr>
            <a:r>
              <a:t>14 / 14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