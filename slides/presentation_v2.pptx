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20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My name is [Speaker 1], and together with [Speaker 2] and [Speaker 3], we will present our study on overfitting and underfitting in machine learning. (10s)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[INTERACTION] Show 3 plots. Ask audience: 'Which polynomial would you trust to predict a new data point?' Quick hand raise for degree 1, 4, 15.</a:t>
            </a:r>
          </a:p>
          <a:p>
            <a:endParaRPr/>
          </a:p>
          <a:p>
            <a:r>
              <a:t>'This is the fundamental tension in ML — too simple vs too complex. Today we derive the mathematics behind WHY this happens and HOW to fix it.'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training and test error formally. Underfitting = high training error; overfitting = large gap between train and test. 'The generalization gap is our diagnostic.'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Training error always decreases, but test error has a U-shape. The sweet spot is around degree 3–5. We explain this via bias-variance decomposition. 'This uses expectation and variance from Weeks 9 and 10.' (20s)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the bias-variance framework. y = f(x) + noise. We train f-hat on dataset D. The key insight: expectation is over ALL possible training sets D.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[CORE SLIDE - Step through carefully]</a:t>
            </a:r>
          </a:p>
          <a:p>
            <a:r>
              <a:t>Step 1: Add-subtract f(x). Cross-term vanishes because epsilon is independent of f-hat and E[epsilon]=0.</a:t>
            </a:r>
          </a:p>
          <a:p>
            <a:r>
              <a:t>Step 2: Add-subtract E_D[f-hat]. Cross-term vanishes because E[f-hat - E[f-hat]] = 0 by definition.</a:t>
            </a:r>
          </a:p>
          <a:p>
            <a:r>
              <a:t>Final: Error = Bias^2 + Variance + sigma^2.</a:t>
            </a:r>
          </a:p>
          <a:p>
            <a:r>
              <a:t>Bias = how far average model is from truth (underfitting).</a:t>
            </a:r>
          </a:p>
          <a:p>
            <a:r>
              <a:t>Variance = how much model fluctuates (overfitting).</a:t>
            </a:r>
          </a:p>
          <a:p>
            <a:r>
              <a:t>sigma^2 = noise floor.</a:t>
            </a:r>
          </a:p>
          <a:p>
            <a:r>
              <a:t>Verified via Monte Carlo with 200 datasets. (80s)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2] 'We know WHY overfitting happens — high variance. How do we FIX it? By constraining complexity. Ridge adds an L2 penalty — the Euclidean norm from Week 3.'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Ridge closed-form: only difference from OLS is +alphaI.</a:t>
            </a:r>
          </a:p>
          <a:p>
            <a:r>
              <a:t>Eigenvalue view (Week 5): shifts eigenvalues by alpha, stabilizes inversion.</a:t>
            </a:r>
          </a:p>
          <a:p>
            <a:r>
              <a:t>Lagrangian view (Week 9): constrained optimization, alpha = Lagrange multiplier.</a:t>
            </a:r>
          </a:p>
          <a:p>
            <a:r>
              <a:t>'Adding alphaI trades small bias increase for large variance decrease.' (80s)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Lasso uses L1 penalty. Geometric comparison: L2 = circle (smooth shrinkage), L1 = diamond (corners → exact zeros). 'Lasso = regularization + feature selection.' Show ridge_vs_lasso_coefficients.png. (60s)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'How to choose alpha? K-fold cross-validation. 4 steps: partition, train, average, select. Gives unbiased test error estimate without separate validation set.'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[Speaker 3] 'We made 3 predictions from theory and tested all 3 experimentally. U-shaped error: confirmed. Bias down, variance up: Monte Carlo confirms. Ridge shrinks coefficients: confirmed. Theory works.'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'Same principle applies to neural networks — shallow underfits, deep overfits. 3 takeaways: (1) B-V decomposition explains tradeoff; (2) Regularization controls complexity; (3) Cross-validation selects balance point.'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[INTERACTION] Read scenario. Pause 5s for audience thinking.</a:t>
            </a:r>
          </a:p>
          <a:p>
            <a:r>
              <a:t>'Generalization gap is 39% — clearly overfitting. Fix: add regularization or reduce complexity.' Thank you. Open for Q&amp;A.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Overfitting and Underfitting</a:t>
            </a:r>
            <a:br/>
            <a:r>
              <a:t>in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AIAA 2711 — Spring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Member A  ·  Member B  ·  Member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The Hook: Which Model Do You Trust?</a:t>
            </a:r>
          </a:p>
        </p:txBody>
      </p:sp>
      <p:pic>
        <p:nvPicPr>
          <p:cNvPr id="4" name="Picture 3" descr="polynomial_f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10515600" cy="2691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Calibri"/>
              </a:defRPr>
            </a:pPr>
            <a:r>
              <a:t>✨ Vote by show of hands: degree 1, degree 4, or degree 15?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Interactive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4008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Which polynomial would you trust to predict a NEW data 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Formal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Training Error: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29077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Test Error: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200400"/>
            <a:ext cx="28209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Underfitting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is HIGH — model too simple.</a:t>
            </a:r>
            <a:br/>
            <a:r>
              <a:t>Both training and test errors are large.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≪ E_test — generalization gap.</a:t>
            </a:r>
            <a:br/>
            <a:r>
              <a:t>Model memorizes noise in training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generalization gap (E_test − E_train) is our diagnostic tool.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Why Does Test Error Follow a U-Shape?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Training error ↓ monotonically with complexity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Test error is U-shaped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Minimum near degree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The Answer: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Bias-Variance Decomposition</a:t>
            </a:r>
            <a:br/>
            <a:r>
              <a:t>(uses expectation &amp; variance from Weeks 9–10)</a:t>
            </a:r>
          </a:p>
        </p:txBody>
      </p:sp>
      <p:pic>
        <p:nvPicPr>
          <p:cNvPr id="7" name="Picture 6" descr="error_vs_complex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03520" cy="3253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Bias-Variance Decomposition: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Data Model: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338328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f(x) : true underlying function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ƒ̂(x) : model trained on dataset D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ε : irreducible noise (Gaussian)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Our Goal — decompose: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937760"/>
            <a:ext cx="2052828" cy="5897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51760"/>
            <a:ext cx="5029200" cy="7315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expectation is over ALL possible training datasets D. We ask: on average, across all training sets we could draw, how far off is our model?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Bias-Variance Derivation ★ Core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Step 1: Add-subtract f(x)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3236976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rPr dirty="0"/>
              <a:t>Cross-term vanishes: ε independent of ƒ̂, E[ε]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Step 2: Add-subtract E_D[ƒ̂]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3973068" cy="33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Cross-term vanishes: E_D[ƒ̂ − E_D[ƒ̂]] = 0 by definition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80560"/>
            <a:ext cx="10972800" cy="137160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Final Result: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846320"/>
            <a:ext cx="4882896" cy="6492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Interpretation: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630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Bias² = average model's distance from truth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Variance = prediction fluctuation across datasets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σ² = noise floor (no model can beat this)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Complexity ↑ → Bias ↓ Variance ↑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Complexity ↓ → Bias ↑ Variance 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21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2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25" dur="indefinite" nodeType="mainSeq">
                <p:childTnLst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dur="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presetID="10" presetClass="entr" presetSubtype="0" fill="hold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9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0" dur="500"/>
                                          <p:tgtEl>
                                            <p:spTgt spid="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dur="1" fill="hold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32" presetID="10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4" dur="50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5" dur="1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6" presetID="10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7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8" dur="50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dur="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presetID="1" presetClass="entr" presetSubtype="0" fill="hold" nodeType="click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2" dur="1" fill="hold">
                                            <p:stCondLst>
                                              <p:cond delay="499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3" dur="1" fill="hold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44" presetID="1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5" dur="1" fill="hold">
                                            <p:stCondLst>
                                              <p:cond delay="499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dur="1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7" presetID="1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8" dur="1" fill="hold">
                                            <p:stCondLst>
                                              <p:cond delay="499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dur="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presetID="1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2" dur="1" fill="hold">
                                            <p:stCondLst>
                                              <p:cond delay="499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3" dur="1" fill="hold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54" presetID="1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5" dur="1" fill="hold">
                                            <p:stCondLst>
                                              <p:cond delay="499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6" dur="1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7" presetID="1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8" dur="1" fill="hold">
                                            <p:stCondLst>
                                              <p:cond delay="499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9" dur="1" fill="hold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0" presetID="1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1" dur="1" fill="hold">
                                            <p:stCondLst>
                                              <p:cond delay="499"/>
                                            </p:stCondLst>
                                          </p:cTn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2" dur="1" fill="hold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63" presetID="1" presetClass="entr" presetSubtype="0" fill="hold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4" dur="1" fill="hold">
                                            <p:stCondLst>
                                              <p:cond delay="499"/>
                                            </p:stCondLst>
                                          </p:cTn>
                                          <p:tgtEl>
                                            <p:spTgt spid="1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Regularization: Constraining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High variance → overfitting.  Fix: constrain model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Ordinary Least Squares (no penalty):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26080"/>
            <a:ext cx="2080260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2103120"/>
            <a:ext cx="5029200" cy="228600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Ridge Regression (L2 penalty):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926080"/>
            <a:ext cx="3191256" cy="3840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Course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394960"/>
            <a:ext cx="73152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L2 norm is the Euclidean norm from Week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Ridge: Closed-Form &amp; Two Interpretations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Closed-form solution: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54480"/>
            <a:ext cx="3054096" cy="374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vs. OLS:  (XᵀX)⁻¹ Xᵀy     — only difference is +αI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303520" cy="164592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① Eigenvalue Perspective (Week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αI shifts eigenvalues: λᵢ → λᵢ + α</a:t>
            </a:r>
            <a:br/>
            <a:r>
              <a:t>Prevents small eigenvalues from causing instability</a:t>
            </a:r>
            <a:br/>
            <a:r>
              <a:t>→ Directly reduces 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5303520" cy="164592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② Lagrangian Perspective (Week 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Equivalent to: min ||y−Xw||²  s.t. ||w||² ≤ t</a:t>
            </a:r>
            <a:br/>
            <a:r>
              <a:t>α is the Lagrange multiplier</a:t>
            </a:r>
            <a:br/>
            <a:r>
              <a:t>→ Constrained optimization 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39496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Adding αI trades a SMALL bias increase for a LARGE variance decrease.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Lasso &amp; L1 vs L2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Lasso (L1 penalty):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54480"/>
            <a:ext cx="2907792" cy="356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2560320"/>
            <a:ext cx="3200400" cy="182880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L2 Ball (Circle)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• Smooth boundary</a:t>
            </a:r>
            <a:br/>
            <a:r>
              <a:t>• All coefficients shrink</a:t>
            </a:r>
            <a:br/>
            <a:r>
              <a:t>• Regularization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200400" cy="182880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L1 Ball (Diamond)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• Corners on axes</a:t>
            </a:r>
            <a:br/>
            <a:r>
              <a:t>• Coefficients → exact zero</a:t>
            </a:r>
            <a:br/>
            <a:r>
              <a:t>• Regularization + Feature Selection</a:t>
            </a:r>
          </a:p>
        </p:txBody>
      </p:sp>
      <p:pic>
        <p:nvPicPr>
          <p:cNvPr id="12" name="Picture 11" descr="ridge_vs_lasso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657600" cy="128271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Geometric Insight (Week 3 Norms)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109728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L1 ball has corners on coordinate axes. The optimum lands on corners — that's why Lasso zeros out coefficients. It's regularization AND feature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Choosing α: K-Fold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How to choose the regularization parameter α?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1: Partition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Partition data into K equal folds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2: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Train on K−1 folds, evaluate on fold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3: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Average the K evaluation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4: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Select α that minimizes CV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Advantage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Unbiased test error estimate WITHOUT a separate validation set — every data point used for both training and evaluation.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Experimental Verification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Theory Prediction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U-shaped test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Polynomial 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Bias↓ Variance↑ with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Monte Carlo (200 datasets)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shrinks 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bias_variance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097280"/>
            <a:ext cx="4114800" cy="2522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All three theoretical predictions are confirmed experimentally.</a:t>
            </a:r>
            <a:br/>
            <a:r>
              <a:t>The Monte Carlo simulation with 200 datasets verifies the</a:t>
            </a:r>
            <a:br/>
            <a:r>
              <a:t>bias-variance decomposition quantitatively.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Beyond Polynomials &amp; Key Takeaways</a:t>
            </a:r>
          </a:p>
        </p:txBody>
      </p:sp>
      <p:pic>
        <p:nvPicPr>
          <p:cNvPr id="4" name="Picture 3" descr="dl_synthetic_overfi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5029200" cy="1287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Same bias-variance principle applies to neural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3 Key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10058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①  Bias-Variance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explains the underfitting/overfitting tradeoff mathematically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5303520" cy="1005840"/>
          </a:xfrm>
          <a:prstGeom prst="round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②  Regularization (Ridge L2 / Lasso 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controls complexity via norm penalties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30352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③ 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selects the optimal balance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Quick Challenge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144000" cy="182880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Scenario: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A model achieves 99% training accuracy but only 60% test accuracy.</a:t>
            </a:r>
            <a:br/>
            <a:br/>
            <a:r>
              <a:t>Q1: Is this overfitting or underfitting?</a:t>
            </a:r>
            <a:br/>
            <a:r>
              <a:t>Q2: What would you recommend to fix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91440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23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Generalization gap = 39%  →  Overfitting (high variance)</a:t>
            </a:r>
            <a:br/>
            <a:r>
              <a:t>→  Add regularization / reduce model complexity / collect more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9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dur="indefinite" fill="hold">
                <p:stCondLst>
                  <p:cond delay="0"/>
                </p:stCondLst>
                <p:childTnLst>
                  <p:par>
                    <p:cTn id="3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7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9" dur="1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par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dur="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dur="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dur="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dur="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1486</Words>
  <Application>Microsoft Office PowerPoint</Application>
  <PresentationFormat>宽屏</PresentationFormat>
  <Paragraphs>146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Xingjian LI</cp:lastModifiedBy>
  <cp:revision>2</cp:revision>
  <dcterms:created xsi:type="dcterms:W3CDTF">2013-01-27T09:14:16Z</dcterms:created>
  <dcterms:modified xsi:type="dcterms:W3CDTF">2026-04-25T09:31:31Z</dcterms:modified>
  <cp:category/>
</cp:coreProperties>
</file>