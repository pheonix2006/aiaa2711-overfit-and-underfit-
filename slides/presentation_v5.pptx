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My name is [Speaker 1], and together with [Speaker 2] and [Speaker 3], we will present our study on overfitting and underfitting in machine learning. (10s)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Show 3 plots. Ask audience: 'Which polynomial would you trust to predict a new data point?' Quick hand raise for degree 1, 4, 15.</a:t>
            </a:r>
          </a:p>
          <a:p/>
          <a:p>
            <a:r>
              <a:t>'This is the fundamental tension in ML — too simple vs too complex. Today we derive the mathematics behind WHY this happens and HOW to fix it.'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training and test error formally. Underfitting = high training error; overfitting = large gap between train and test. 'The generalization gap is our diagnostic.'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error always decreases, but test error has a U-shape. The sweet spot is around degree 3–5. We explain this via bias-variance decomposition. 'This uses expectation and variance from Weeks 9 and 10.' (20s)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bias-variance framework. y = f(x) + noise. We train f-hat on dataset D. The key insight: expectation is over ALL possible training sets D.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6a - Step through EVERY term]</a:t>
            </a:r>
          </a:p>
          <a:p>
            <a:r>
              <a:t>Step 1: Substitute y=f+eps, expand square -&gt; 3 terms. Cross-term: eps independent of f-hat, E[eps]=0, so cross-term=0. E[eps^2]=sigma^2.</a:t>
            </a:r>
          </a:p>
          <a:p>
            <a:r>
              <a:t>Step 2: Let f-bar = E_D[f-hat]. Add-subtract f-bar, expand -&gt; 3 terms. Cross-term: E_D[f-bar - f-hat] = f-bar - f-bar = 0 by definition.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[CORE SLIDE 6b] Present boxed result. Interpret: Bias = avg model distance from truth (underfitting). Variance = prediction fluctuation (overfitting). sigma^2 = noise floor.</a:t>
            </a:r>
          </a:p>
          <a:p>
            <a:r>
              <a:t>[POINT TO FIGURE] Monte Carlo with 200 datasets: blue=bias drops, orange=variance rises, sum = U-shape, minimum at degree 3-4. 'Theory predicts, experiments confirm.'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2] 'We know WHY overfitting happens — high variance. How do we FIX it? By constraining complexity. Ridge adds an L2 penalty — the Euclidean norm from Week 3.'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Ridge closed-form: only difference from OLS is +alphaI.</a:t>
            </a:r>
          </a:p>
          <a:p>
            <a:r>
              <a:t>[POINT TO LEFT FIGURE] Eigenvalue view: small eigenvalues make OLS unstable. Adding alpha shifts all eigenvalues right, stabilizing inversion.</a:t>
            </a:r>
          </a:p>
          <a:p>
            <a:r>
              <a:t>[POINT TO RIGHT FIGURE] Lagrangian view: Ridge is constrained optimization. The circle is ||w||^2 &lt;= t. The ellipses are loss contours. The tangent point is the Ridge solution.</a:t>
            </a:r>
          </a:p>
          <a:p>
            <a:r>
              <a:t>'Small bias increase buys large variance decrease.' (80s)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[POINT TO LEFT FIGURE] L2 ball = circle, tangent point not on axes (both w1 and w2 non-zero). L1 ball = diamond with corners ON axes. The contour hits a corner -&gt; w2=0. That's sparsity!</a:t>
            </a:r>
          </a:p>
          <a:p>
            <a:r>
              <a:t>[POINT TO RIGHT FIGURE] Ridge coefficients shrink smoothly. Lasso coefficients drop to exactly zero one by one.</a:t>
            </a:r>
          </a:p>
          <a:p>
            <a:r>
              <a:t>'Lasso = regularization + feature selection.' (60s)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'How to choose alpha? K-fold cross-validation. 4 steps: partition, train, average, select. Gives unbiased test error estimate without separate validation set.'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3] 'Three predictions, three experiments, all confirmed.</a:t>
            </a:r>
          </a:p>
          <a:p>
            <a:r>
              <a:t>[POINT TO LEFT] Prediction 1: test error is U-shaped with complexity. Our polynomial experiment confirms it.</a:t>
            </a:r>
          </a:p>
          <a:p>
            <a:r>
              <a:t>[POINT TO MIDDLE] Prediction 2: bias drops, variance rises. Monte Carlo with 200 datasets shows exactly this crossover.</a:t>
            </a:r>
          </a:p>
          <a:p>
            <a:r>
              <a:t>[POINT TO RIGHT] Prediction 3: Ridge shrinks coefficients. As alpha increases, weights shrink and test error finds a sweet spot.</a:t>
            </a:r>
          </a:p>
          <a:p>
            <a:r>
              <a:t>'Theory predicts, experiments confirm.' (50s)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'Same principle applies to neural networks — shallow underfits, deep overfits. 3 takeaways: (1) B-V decomposition explains tradeoff; (2) Regularization controls complexity; (3) Cross-validation selects balance point.' (40s)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[INTERACTION] Read scenario. Pause 5s for audience thinking.</a:t>
            </a:r>
          </a:p>
          <a:p>
            <a:r>
              <a:t>'Generalization gap is 39% — clearly overfitting. Fix: add regularization or reduce complexity.' Thank you. Open for Q&amp;A. (30s)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Overfitting and Underfitting</a:t>
            </a:r>
            <a:br/>
            <a:r>
              <a:t>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AIAA 2711 —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Member A  ·  Member B  ·  Member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The Hook: Which Model Do You Trust?</a:t>
            </a:r>
          </a:p>
        </p:txBody>
      </p:sp>
      <p:pic>
        <p:nvPicPr>
          <p:cNvPr id="4" name="Picture 3" descr="polynomial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2691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Calibri"/>
              </a:defRPr>
            </a:pPr>
            <a:r>
              <a:t>✨ Vote by show of hands: degree 1, degree 4, or degree 15?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Which polynomial would you trust to predict a NEW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Formal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Training Error: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9077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Test Error: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00400"/>
            <a:ext cx="28209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is HIGH — model too simple.</a:t>
            </a:r>
            <a:br/>
            <a:r>
              <a:t>Both training and test errors are large.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E_train ≪ E_test — generalization gap.</a:t>
            </a:r>
            <a:br/>
            <a:r>
              <a:t>Model memorizes noise in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generalization gap (E_test − E_train) is our diagnostic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Why Does Test Error Follow a U-Shape?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Training error ↓ monotonically with complexity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Test error is U-shaped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  <a:latin typeface="Calibri"/>
              </a:defRPr>
            </a:pPr>
            <a:r>
              <a:t>•  Minimum near degree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The Answer: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Bias-Variance Decomposition</a:t>
            </a:r>
            <a:br/>
            <a:r>
              <a:t>(uses expectation &amp; variance from Weeks 9–10)</a:t>
            </a:r>
          </a:p>
        </p:txBody>
      </p:sp>
      <p:pic>
        <p:nvPicPr>
          <p:cNvPr id="7" name="Picture 6" descr="error_vs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3253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Bias-Variance Decomposition: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Data Model: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338328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f(x) : true underlying function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ƒ̂(x) : model trained on dataset D</a:t>
            </a:r>
          </a:p>
          <a:p>
            <a:pPr>
              <a:spcAft>
                <a:spcPts val="6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ε : irreducible noise (Gaussian)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Our Goal — decompose: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937760"/>
            <a:ext cx="2052828" cy="589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expectation is over ALL possible training datasets D. We ask: on average, across all training sets we could draw, how far off is our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 Derivation: Step-by-Step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1: Substitute y = f + ε and expand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219956" cy="32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ε is independent of ƒ̂, and f is fixed, so</a:t>
            </a:r>
            <a:br/>
            <a:r>
              <a:t>E[ε(f − ƒ̂)] = E[ε] · E[f − ƒ̂] = 0 · (…) = 0    Also: E[ε²] = σ²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834640"/>
            <a:ext cx="286664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C00"/>
                </a:solidFill>
                <a:latin typeface="Calibri"/>
              </a:defRPr>
            </a:pPr>
            <a:r>
              <a:t>Step 2: Let ƒ̄ ≡ E_D[ƒ̂], add-subtract ƒ̄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4288536" cy="55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Cross-term: E_D[ƒ̄ − ƒ̂] = ƒ̄ − E_D[ƒ̂] = ƒ̄ − ƒ̄ = 0  (by definition of ƒ̄)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Bias-Variance: Result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858000" cy="146304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Combining Steps 1 &amp; 2: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4663440" cy="649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743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Interpretation: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383280" cy="10972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6A9F"/>
                </a:solidFill>
                <a:latin typeface="Calibri"/>
              </a:defRPr>
            </a:pPr>
            <a:r>
              <a:t>Bias²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Avg model's distance from truth</a:t>
            </a:r>
            <a:br/>
            <a:r>
              <a:t>High bias → underfitting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200400"/>
            <a:ext cx="3383280" cy="10972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Prediction fluctuation across datasets</a:t>
            </a:r>
            <a:br/>
            <a:r>
              <a:t>High variance →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Complexity ↑ → Bias ↓ Variance ↑    |    Complexity ↓ → Bias ↑ Variance ↓</a:t>
            </a:r>
          </a:p>
        </p:txBody>
      </p:sp>
      <p:pic>
        <p:nvPicPr>
          <p:cNvPr id="15" name="Picture 14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4114800" cy="25222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Monte Carlo verification</a:t>
            </a:r>
            <a:br/>
            <a:r>
              <a:t>200 independent datasets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68580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σ² = irreducible noise floor — no model can beat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Regularization: Constraining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High variance → overfitting.  Fix: constrain model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Ordinary Least Squares (no penalty):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2080260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2103120"/>
            <a:ext cx="5029200" cy="228600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Ridge Regression (L2 penalty):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26080"/>
            <a:ext cx="3191256" cy="3840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94960"/>
            <a:ext cx="73152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L2 norm is the Euclidean norm from Week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Ridge: Closed-Form &amp; Two Interpretations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Closed-form: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960120"/>
            <a:ext cx="2221992" cy="288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vs. OLS: (X'X)⁻¹ X'y — only +αI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32004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① Eigenvalue Perspective (Week 5)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5120640" cy="21925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αI shifts eigenvalues right → stabilizes inversion → reduces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303520" cy="320040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② Lagrangian Perspective (Week 9)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920240"/>
            <a:ext cx="2743200" cy="26501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2103120"/>
            <a:ext cx="1371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min ||y−Xw||²</a:t>
            </a:r>
            <a:br/>
            <a:r>
              <a:t>s.t. ||w||² ≤ t</a:t>
            </a:r>
            <a:br/>
            <a:br/>
            <a:r>
              <a:t>α = Lagrange</a:t>
            </a:r>
            <a:br/>
            <a:r>
              <a:t>multiplier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Larger α → smaller ball → simpler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39496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Adding αI trades a SMALL bias increase for a LARGE variance decrease.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Lasso &amp; L1 vs L2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Lasso (L1 penalty):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2907792" cy="35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0"/>
            <a:ext cx="7315200" cy="2803331"/>
          </a:xfrm>
          <a:prstGeom prst="rect">
            <a:avLst/>
          </a:prstGeom>
        </p:spPr>
      </p:pic>
      <p:pic>
        <p:nvPicPr>
          <p:cNvPr id="7" name="Picture 6" descr="ridge_vs_lasso_coeffici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12827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L2 circle → smooth shrinkage   |   L1 diamond → corners on axes → sparse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Geometric Insight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60720"/>
            <a:ext cx="109728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The L1 ball has corners on coordinate axes. The optimum lands on corners → coefficients become exactly zero. Lasso = regularization + feature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Choosing α: K-Fold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How to choose the regularization parameter α?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1: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Partition data into K equal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2: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Train on K−1 folds, evaluate on fold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9F"/>
                </a:solidFill>
                <a:latin typeface="Calibri"/>
              </a:defRPr>
            </a:pPr>
            <a:r>
              <a:t>Step 3: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Average the K evaluation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Calibri"/>
              </a:defRPr>
            </a:pPr>
            <a:r>
              <a:t>Step 4: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Select α that minimizes CV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229600" cy="4114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Unbiased test error estimate WITHOUT a separate validation set — every data point used for both training and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6A9F"/>
                </a:solidFill>
                <a:latin typeface="Calibri"/>
              </a:defRPr>
            </a:pPr>
            <a:r>
              <a:t>Experimental Verification: Theory →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41148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① U-Shaped Test Error</a:t>
            </a:r>
          </a:p>
        </p:txBody>
      </p:sp>
      <p:pic>
        <p:nvPicPr>
          <p:cNvPr id="5" name="Picture 4" descr="error_vs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3566160" cy="2187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Test error first drops, then rises</a:t>
            </a:r>
            <a:br/>
            <a:r>
              <a:t>as polynomial degree increases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120640"/>
            <a:ext cx="2103120" cy="365760"/>
          </a:xfrm>
          <a:prstGeom prst="roundRect">
            <a:avLst/>
          </a:prstGeom>
          <a:solidFill>
            <a:srgbClr val="E8F0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6A9F"/>
                </a:solidFill>
                <a:latin typeface="Calibri"/>
              </a:defRPr>
            </a:pPr>
            <a:r>
              <a:t>✅ 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566160" cy="4114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② Bias↓ Variance↑</a:t>
            </a:r>
          </a:p>
        </p:txBody>
      </p:sp>
      <p:pic>
        <p:nvPicPr>
          <p:cNvPr id="9" name="Picture 8" descr="bias_variance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3566160" cy="2185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438912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Monte Carlo (200 datasets):</a:t>
            </a:r>
            <a:br/>
            <a:r>
              <a:t>bias drops, variance rises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120640"/>
            <a:ext cx="2103120" cy="365760"/>
          </a:xfrm>
          <a:prstGeom prst="roundRect">
            <a:avLst/>
          </a:prstGeom>
          <a:solidFill>
            <a:srgbClr val="FDF6E3"/>
          </a:solidFill>
          <a:ln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✅ Confirmed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356616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③ Ridge Shrinks Coefficients</a:t>
            </a:r>
          </a:p>
        </p:txBody>
      </p:sp>
      <p:pic>
        <p:nvPicPr>
          <p:cNvPr id="13" name="Picture 12" descr="ridge_regular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4480"/>
            <a:ext cx="3566160" cy="123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4389120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As α increases, coefficients</a:t>
            </a:r>
            <a:br/>
            <a:r>
              <a:t>shrink and test error drops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5120640"/>
            <a:ext cx="2103120" cy="36576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✅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All three theoretical predictions confirmed experimentally. Theory predicts, experiments verify.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Beyond Polynomials &amp; Key Takeaways</a:t>
            </a:r>
          </a:p>
        </p:txBody>
      </p:sp>
      <p:pic>
        <p:nvPicPr>
          <p:cNvPr id="4" name="Picture 3" descr="dl_synthetic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12872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Same bias-variance principle applies to neural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9F"/>
                </a:solidFill>
                <a:latin typeface="Calibri"/>
              </a:defRPr>
            </a:pPr>
            <a:r>
              <a:t>3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100584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①  Bias-Variance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explains the underfitting/overfitting tradeoff mathematically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5303520" cy="1005840"/>
          </a:xfrm>
          <a:prstGeom prst="round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②  Regularization (Ridge L2 / Lasso 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controls complexity via norm penalties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303520" cy="1005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③ 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selects the optimal balance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6A9F"/>
                </a:solidFill>
                <a:latin typeface="Calibri"/>
              </a:defRPr>
            </a:pPr>
            <a:r>
              <a:t>Quick Challenge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182880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Scenario: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  <a:r>
              <a:t>A model achieves 99% training accuracy but only 60% test accuracy.</a:t>
            </a:r>
            <a:br/>
            <a:br/>
            <a:r>
              <a:t>Q1: Is this overfitting or underfitting?</a:t>
            </a:r>
            <a:br/>
            <a:r>
              <a:t>Q2: What would you recommend to fix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A2E"/>
                </a:solidFill>
                <a:latin typeface="Calibri"/>
              </a:defRPr>
            </a:pPr>
            <a:r>
              <a:t>Generalization gap = 39%  →  Overfitting (high variance)</a:t>
            </a:r>
            <a:br/>
            <a:r>
              <a:t>→  Add regularization / reduce model complexity / collect more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6A9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