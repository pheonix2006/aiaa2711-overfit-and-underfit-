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264" y="7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72123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Welcome everyone. My name is [Speaker 1], and together with [Speaker 2] and [Speaker 3], we will present our study on overfitting and underfitting in machine learning. (10s)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[INTERACTION] Show 3 plots. Ask audience: 'Which polynomial would you trust to predict a new data point?' Quick hand raise for degree 1, 4, 15.</a:t>
            </a:r>
          </a:p>
          <a:p>
            <a:endParaRPr/>
          </a:p>
          <a:p>
            <a:r>
              <a:t>'This is the fundamental tension in ML — too simple vs too complex. Today we derive the mathematics behind WHY this happens and HOW to fix it.' (50s)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Define training and test error formally. Underfitting = high training error; overfitting = large gap between train and test. 'The generalization gap is our diagnostic.' (40s)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Training error always decreases, but test error has a U-shape. The sweet spot is around degree 3–5. We explain this via bias-variance decomposition. 'This uses expectation and variance from Weeks 9 and 10.' (20s)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Set up the bias-variance framework. y = f(x) + noise. We train f-hat on dataset D. The key insight: expectation is over ALL possible training sets D. (40s)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[CORE SLIDE - Step through carefully]</a:t>
            </a:r>
          </a:p>
          <a:p>
            <a:r>
              <a:t>Step 1: Add-subtract f(x). Cross-term vanishes because epsilon is independent of f-hat and E[epsilon]=0.</a:t>
            </a:r>
          </a:p>
          <a:p>
            <a:r>
              <a:t>Step 2: Add-subtract E_D[f-hat]. Cross-term vanishes because E[f-hat - E[f-hat]] = 0 by definition.</a:t>
            </a:r>
          </a:p>
          <a:p>
            <a:r>
              <a:t>Final: Error = Bias^2 + Variance + sigma^2.</a:t>
            </a:r>
          </a:p>
          <a:p>
            <a:r>
              <a:t>Bias = how far average model is from truth (underfitting).</a:t>
            </a:r>
          </a:p>
          <a:p>
            <a:r>
              <a:t>Variance = how much model fluctuates (overfitting).</a:t>
            </a:r>
          </a:p>
          <a:p>
            <a:r>
              <a:t>sigma^2 = noise floor.</a:t>
            </a:r>
          </a:p>
          <a:p>
            <a:r>
              <a:t>Verified via Monte Carlo with 200 datasets. (80s)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[Speaker 2] 'We know WHY overfitting happens — high variance. How do we FIX it? By constraining complexity. Ridge adds an L2 penalty — the Euclidean norm from Week 3.' (30s)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Ridge closed-form: only difference from OLS is +alphaI.</a:t>
            </a:r>
          </a:p>
          <a:p>
            <a:r>
              <a:t>Eigenvalue view (Week 5): shifts eigenvalues by alpha, stabilizes inversion.</a:t>
            </a:r>
          </a:p>
          <a:p>
            <a:r>
              <a:t>Lagrangian view (Week 9): constrained optimization, alpha = Lagrange multiplier.</a:t>
            </a:r>
          </a:p>
          <a:p>
            <a:r>
              <a:t>'Adding alphaI trades small bias increase for large variance decrease.' (80s)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Lasso uses L1 penalty. Geometric comparison: L2 = circle (smooth shrinkage), L1 = diamond (corners → exact zeros). 'Lasso = regularization + feature selection.' Show ridge_vs_lasso_coefficients.png. (60s)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'How to choose alpha? K-fold cross-validation. 4 steps: partition, train, average, select. Gives unbiased test error estimate without separate validation set.' (30s)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[Speaker 3] 'We made 3 predictions from theory and tested all 3 experimentally. U-shaped error: confirmed. Bias down, variance up: Monte Carlo confirms. Ridge shrinks coefficients: confirmed. Theory works.' (50s)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'Same principle applies to neural networks — shallow underfits, deep overfits. 3 takeaways: (1) B-V decomposition explains tradeoff; (2) Regularization controls complexity; (3) Cross-validation selects balance point.' (40s)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[INTERACTION] Read scenario. Pause 5s for audience thinking.</a:t>
            </a:r>
          </a:p>
          <a:p>
            <a:r>
              <a:t>'Generalization gap is 39% — clearly overfitting. Fix: add regularization or reduce complexity.' Thank you. Open for Q&amp;A. (30s)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286000"/>
            <a:ext cx="12191695" cy="54864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Overfitting and Underfitting</a:t>
            </a:r>
            <a:br/>
            <a:r>
              <a:t>in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BBBBB"/>
                </a:solidFill>
                <a:latin typeface="Calibri"/>
              </a:defRPr>
            </a:pPr>
            <a:r>
              <a:t>AIAA 2711 — Spring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99999"/>
                </a:solidFill>
                <a:latin typeface="Calibri"/>
              </a:defRPr>
            </a:pPr>
            <a:r>
              <a:t>Member A  ·  Member B  ·  Member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6A9F"/>
                </a:solidFill>
                <a:latin typeface="Calibri"/>
              </a:defRPr>
            </a:pPr>
            <a:r>
              <a:t>The Hook: Which Model Do You Trust?</a:t>
            </a:r>
          </a:p>
        </p:txBody>
      </p:sp>
      <p:pic>
        <p:nvPicPr>
          <p:cNvPr id="4" name="Picture 3" descr="polynomial_fi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97280"/>
            <a:ext cx="10515600" cy="26915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120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86C00"/>
                </a:solidFill>
                <a:latin typeface="Calibri"/>
              </a:defRPr>
            </a:pPr>
            <a:r>
              <a:t>✨ Vote by show of hands: degree 1, degree 4, or degree 15?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5760720"/>
            <a:ext cx="6400800" cy="365760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Interactive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6126480"/>
            <a:ext cx="6400800" cy="36576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1A1A2E"/>
                </a:solidFill>
                <a:latin typeface="Calibri"/>
              </a:defRPr>
            </a:pPr>
            <a:r>
              <a:t>Which polynomial would you trust to predict a NEW data point?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Calibri"/>
              </a:defRPr>
            </a:pPr>
            <a: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6A9F"/>
                </a:solidFill>
                <a:latin typeface="Calibri"/>
              </a:defRPr>
            </a:pPr>
            <a:r>
              <a:t>Formal Definitions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Training Error: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645920"/>
            <a:ext cx="2907792" cy="4206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2743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Test Error: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3200400"/>
            <a:ext cx="2820924" cy="4206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6A9F"/>
                </a:solidFill>
                <a:latin typeface="Calibri"/>
              </a:defRPr>
            </a:pPr>
            <a:r>
              <a:t>Underfitting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Calibri"/>
              </a:defRPr>
            </a:pPr>
            <a:r>
              <a:t>E_train is HIGH — model too simple.</a:t>
            </a:r>
            <a:br/>
            <a:r>
              <a:t>Both training and test errors are large.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926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6C00"/>
                </a:solidFill>
                <a:latin typeface="Calibri"/>
              </a:defRPr>
            </a:pPr>
            <a:r>
              <a:t>Overfitting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4747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Calibri"/>
              </a:defRPr>
            </a:pPr>
            <a:r>
              <a:t>E_train ≪ E_test — generalization gap.</a:t>
            </a:r>
            <a:br/>
            <a:r>
              <a:t>Model memorizes noise in training data.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Key Message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5212080"/>
            <a:ext cx="8229600" cy="41148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1A1A2E"/>
                </a:solidFill>
                <a:latin typeface="Calibri"/>
              </a:defRPr>
            </a:pPr>
            <a:r>
              <a:t>The generalization gap (E_test − E_train) is our diagnostic tool.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Calibri"/>
              </a:defRPr>
            </a:pPr>
            <a: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6A9F"/>
                </a:solidFill>
                <a:latin typeface="Calibri"/>
              </a:defRPr>
            </a:pPr>
            <a:r>
              <a:t>Why Does Test Error Follow a U-Shape?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rPr dirty="0"/>
              <a:t>•  Training error ↓ monotonically with complexity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rPr dirty="0"/>
              <a:t>•  Test error is U-shaped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rPr dirty="0"/>
              <a:t>•  Minimum near degree 3–5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6C00"/>
                </a:solidFill>
                <a:latin typeface="Calibri"/>
              </a:defRPr>
            </a:pPr>
            <a:r>
              <a:t>The Answer: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  <a:latin typeface="Calibri"/>
              </a:defRPr>
            </a:pPr>
            <a:r>
              <a:t>Bias-Variance Decomposition</a:t>
            </a:r>
            <a:br/>
            <a:r>
              <a:t>(uses expectation &amp; variance from Weeks 9–10)</a:t>
            </a:r>
          </a:p>
        </p:txBody>
      </p:sp>
      <p:pic>
        <p:nvPicPr>
          <p:cNvPr id="7" name="Picture 6" descr="error_vs_complex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303520" cy="325361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Calibri"/>
              </a:defRPr>
            </a:pPr>
            <a: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6A9F"/>
                </a:solidFill>
                <a:latin typeface="Calibri"/>
              </a:defRPr>
            </a:pPr>
            <a:r>
              <a:t>Bias-Variance Decomposition: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Data Model: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737360"/>
            <a:ext cx="3383280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27432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f(x) : true underlying function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ƒ̂(x) : model trained on dataset D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ε : irreducible noise (Gaussian)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89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Our Goal — decompose: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4937760"/>
            <a:ext cx="2052828" cy="58978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400800" y="2286000"/>
            <a:ext cx="5029200" cy="365760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Key Point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651760"/>
            <a:ext cx="5029200" cy="73152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1A1A2E"/>
                </a:solidFill>
                <a:latin typeface="Calibri"/>
              </a:defRPr>
            </a:pPr>
            <a:r>
              <a:t>The expectation is over ALL possible training datasets D. We ask: on average, across all training sets we could draw, how far off is our model?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Calibri"/>
              </a:defRPr>
            </a:pPr>
            <a: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6A9F"/>
                </a:solidFill>
                <a:latin typeface="Calibri"/>
              </a:defRPr>
            </a:pPr>
            <a:r>
              <a:t>Bias-Variance Derivation ★ Core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6C00"/>
                </a:solidFill>
                <a:latin typeface="Calibri"/>
              </a:defRPr>
            </a:pPr>
            <a:r>
              <a:rPr dirty="0"/>
              <a:t>Step 1: Add-subtract f(x)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554480"/>
            <a:ext cx="3236976" cy="365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2286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rPr dirty="0"/>
              <a:t>Cross-term vanishes: ε independent of ƒ̂, E[ε] =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6C00"/>
                </a:solidFill>
                <a:latin typeface="Calibri"/>
              </a:defRPr>
            </a:pPr>
            <a:r>
              <a:rPr dirty="0"/>
              <a:t>Step 2: Add-subtract E_D[ƒ̂]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200400"/>
            <a:ext cx="3973068" cy="3337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3931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rPr dirty="0"/>
              <a:t>Cross-term vanishes: E_D[ƒ̂ − E_D[ƒ̂]] = 0 by definition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480560"/>
            <a:ext cx="10972800" cy="1371600"/>
          </a:xfrm>
          <a:prstGeom prst="roundRect">
            <a:avLst/>
          </a:prstGeom>
          <a:solidFill>
            <a:srgbClr val="FDF6E3"/>
          </a:solidFill>
          <a:ln w="25400"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4572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6C00"/>
                </a:solidFill>
                <a:latin typeface="Calibri"/>
              </a:defRPr>
            </a:pPr>
            <a:r>
              <a:t>Final Result: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4846320"/>
            <a:ext cx="4882896" cy="64922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58000" y="1097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Calibri"/>
              </a:defRPr>
            </a:pPr>
            <a:r>
              <a:rPr dirty="0"/>
              <a:t>Interpretation: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46304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rPr dirty="0"/>
              <a:t>Bias² = average model's distance from truth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rPr dirty="0"/>
              <a:t>Variance = prediction fluctuation across datasets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rPr dirty="0"/>
              <a:t>σ² = noise floor (no model can beat this)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endParaRPr dirty="0"/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rPr dirty="0"/>
              <a:t>Complexity ↑ → Bias ↓ Variance ↑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rPr dirty="0"/>
              <a:t>Complexity ↓ → Bias ↑ Variance 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Calibri"/>
              </a:defRPr>
            </a:pPr>
            <a:r>
              <a:t>6 / 13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5" grpId="0"/>
      <p:bldP spid="6" grpId="0"/>
      <p:bldP spid="6" grpId="1"/>
      <p:bldP spid="7" grpId="0"/>
      <p:bldP spid="7" grpId="1"/>
      <p:bldP spid="8" grpId="0"/>
      <p:bldP spid="9" grpId="0"/>
      <p:bldP spid="9" grpId="1"/>
      <p:bldP spid="10" grpId="0"/>
      <p:bldP spid="10" grpId="1" animBg="1"/>
      <p:bldP spid="11" grpId="0"/>
      <p:bldP spid="11" grpId="1"/>
      <p:bldP spid="12" grpId="0"/>
      <p:bldP spid="13" grpId="0"/>
      <p:bldP spid="13" grpId="1"/>
      <p:bldP spid="14" grpId="0"/>
      <p:bldP spid="14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6A9F"/>
                </a:solidFill>
                <a:latin typeface="Calibri"/>
              </a:defRPr>
            </a:pPr>
            <a:r>
              <a:t>Regularization: Constraining Complexity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2E"/>
                </a:solidFill>
                <a:latin typeface="Calibri"/>
              </a:defRPr>
            </a:pPr>
            <a:r>
              <a:t>High variance → overfitting.  Fix: constrain model complexity.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029200" cy="2286000"/>
          </a:xfrm>
          <a:prstGeom prst="round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Calibri"/>
              </a:defRPr>
            </a:pPr>
            <a:r>
              <a:t>Ordinary Least Squares (no penalty):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926080"/>
            <a:ext cx="2080260" cy="38404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0" y="2103120"/>
            <a:ext cx="5029200" cy="2286000"/>
          </a:xfrm>
          <a:prstGeom prst="roundRect">
            <a:avLst/>
          </a:prstGeom>
          <a:solidFill>
            <a:srgbClr val="E8F0F8"/>
          </a:solidFill>
          <a:ln>
            <a:solidFill>
              <a:srgbClr val="2D6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66560" y="22860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6A9F"/>
                </a:solidFill>
                <a:latin typeface="Calibri"/>
              </a:defRPr>
            </a:pPr>
            <a:r>
              <a:t>Ridge Regression (L2 penalty):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2926080"/>
            <a:ext cx="3191256" cy="38404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2286000" y="5029200"/>
            <a:ext cx="7315200" cy="365760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Course Connection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0" y="5394960"/>
            <a:ext cx="7315200" cy="41148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1A1A2E"/>
                </a:solidFill>
                <a:latin typeface="Calibri"/>
              </a:defRPr>
            </a:pPr>
            <a:r>
              <a:t>The L2 norm is the Euclidean norm from Week 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Calibri"/>
              </a:defRPr>
            </a:pPr>
            <a: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6A9F"/>
                </a:solidFill>
                <a:latin typeface="Calibri"/>
              </a:defRPr>
            </a:pPr>
            <a:r>
              <a:t>Ridge: Closed-Form &amp; Two Interpretations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Calibri"/>
              </a:defRPr>
            </a:pPr>
            <a:r>
              <a:t>Closed-form solution: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554480"/>
            <a:ext cx="3054096" cy="3749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7280" y="23774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vs. OLS:  (XᵀX)⁻¹ Xᵀy     — only difference is +αI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0"/>
            <a:ext cx="5303520" cy="1645920"/>
          </a:xfrm>
          <a:prstGeom prst="roundRect">
            <a:avLst/>
          </a:prstGeom>
          <a:solidFill>
            <a:srgbClr val="E8F5E9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3017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Calibri"/>
              </a:defRPr>
            </a:pPr>
            <a:r>
              <a:t>① Eigenvalue Perspective (Week 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47472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t>αI shifts eigenvalues: λᵢ → λᵢ + α</a:t>
            </a:r>
            <a:br/>
            <a:r>
              <a:t>Prevents small eigenvalues from causing instability</a:t>
            </a:r>
            <a:br/>
            <a:r>
              <a:t>→ Directly reduces variance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926080"/>
            <a:ext cx="5303520" cy="1645920"/>
          </a:xfrm>
          <a:prstGeom prst="roundRect">
            <a:avLst/>
          </a:prstGeom>
          <a:solidFill>
            <a:srgbClr val="FDF6E3"/>
          </a:solidFill>
          <a:ln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0" y="3017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6C00"/>
                </a:solidFill>
                <a:latin typeface="Calibri"/>
              </a:defRPr>
            </a:pPr>
            <a:r>
              <a:t>② Lagrangian Perspective (Week 9)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347472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t>Equivalent to: min ||y−Xw||²  s.t. ||w||² ≤ t</a:t>
            </a:r>
            <a:br/>
            <a:r>
              <a:t>α is the Lagrange multiplier</a:t>
            </a:r>
            <a:br/>
            <a:r>
              <a:t>→ Constrained optimization view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Key Insight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0" y="5394960"/>
            <a:ext cx="8229600" cy="41148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1A1A2E"/>
                </a:solidFill>
                <a:latin typeface="Calibri"/>
              </a:defRPr>
            </a:pPr>
            <a:r>
              <a:t>Adding αI trades a SMALL bias increase for a LARGE variance decrease.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Calibri"/>
              </a:defRPr>
            </a:pPr>
            <a: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6A9F"/>
                </a:solidFill>
                <a:latin typeface="Calibri"/>
              </a:defRPr>
            </a:pPr>
            <a:r>
              <a:t>Lasso &amp; L1 vs L2 Geometry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Calibri"/>
              </a:defRPr>
            </a:pPr>
            <a:r>
              <a:t>Lasso (L1 penalty):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554480"/>
            <a:ext cx="2907792" cy="35661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2560320"/>
            <a:ext cx="3200400" cy="1828800"/>
          </a:xfrm>
          <a:prstGeom prst="roundRect">
            <a:avLst/>
          </a:prstGeom>
          <a:solidFill>
            <a:srgbClr val="E8F0F8"/>
          </a:solidFill>
          <a:ln>
            <a:solidFill>
              <a:srgbClr val="2D6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651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6A9F"/>
                </a:solidFill>
                <a:latin typeface="Calibri"/>
              </a:defRPr>
            </a:pPr>
            <a:r>
              <a:t>L2 Ball (Circle)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10896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t>• Smooth boundary</a:t>
            </a:r>
            <a:br/>
            <a:r>
              <a:t>• All coefficients shrink</a:t>
            </a:r>
            <a:br/>
            <a:r>
              <a:t>• Regularization only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560320"/>
            <a:ext cx="3200400" cy="1828800"/>
          </a:xfrm>
          <a:prstGeom prst="roundRect">
            <a:avLst/>
          </a:prstGeom>
          <a:solidFill>
            <a:srgbClr val="FDF6E3"/>
          </a:solidFill>
          <a:ln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63440" y="2651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6C00"/>
                </a:solidFill>
                <a:latin typeface="Calibri"/>
              </a:defRPr>
            </a:pPr>
            <a:r>
              <a:t>L1 Ball (Diamond)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10896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t>• Corners on axes</a:t>
            </a:r>
            <a:br/>
            <a:r>
              <a:t>• Coefficients → exact zero</a:t>
            </a:r>
            <a:br/>
            <a:r>
              <a:t>• Regularization + Feature Selection</a:t>
            </a:r>
          </a:p>
        </p:txBody>
      </p:sp>
      <p:pic>
        <p:nvPicPr>
          <p:cNvPr id="12" name="Picture 11" descr="ridge_vs_lasso_coefficien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371600"/>
            <a:ext cx="3657600" cy="1282718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31520" y="4846320"/>
            <a:ext cx="10972800" cy="365760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Geometric Insight (Week 3 Norms)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212080"/>
            <a:ext cx="10972800" cy="41148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1A1A2E"/>
                </a:solidFill>
                <a:latin typeface="Calibri"/>
              </a:defRPr>
            </a:pPr>
            <a:r>
              <a:t>The L1 ball has corners on coordinate axes. The optimum lands on corners — that's why Lasso zeros out coefficients. It's regularization AND feature selection.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Calibri"/>
              </a:defRPr>
            </a:pPr>
            <a: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6A9F"/>
                </a:solidFill>
                <a:latin typeface="Calibri"/>
              </a:defRPr>
            </a:pPr>
            <a:r>
              <a:t>Choosing α: K-Fold Cross-Validation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2E"/>
                </a:solidFill>
                <a:latin typeface="Calibri"/>
              </a:defRPr>
            </a:pPr>
            <a:r>
              <a:t>How to choose the regularization parameter α?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2560320" cy="2011680"/>
          </a:xfrm>
          <a:prstGeom prst="roundRect">
            <a:avLst/>
          </a:prstGeom>
          <a:solidFill>
            <a:srgbClr val="E8F0F8"/>
          </a:solidFill>
          <a:ln>
            <a:solidFill>
              <a:srgbClr val="2D6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6A9F"/>
                </a:solidFill>
                <a:latin typeface="Calibri"/>
              </a:defRPr>
            </a:pPr>
            <a:r>
              <a:t>Step 1: Partition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t>Partition data into K equal folds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2286000"/>
            <a:ext cx="2560320" cy="2011680"/>
          </a:xfrm>
          <a:prstGeom prst="roundRect">
            <a:avLst/>
          </a:prstGeom>
          <a:solidFill>
            <a:srgbClr val="FDF6E3"/>
          </a:solidFill>
          <a:ln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49040" y="23774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6C00"/>
                </a:solidFill>
                <a:latin typeface="Calibri"/>
              </a:defRPr>
            </a:pPr>
            <a:r>
              <a:t>Step 2: Train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0" y="292608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t>Train on K−1 folds, evaluate on fold 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286000"/>
            <a:ext cx="2560320" cy="2011680"/>
          </a:xfrm>
          <a:prstGeom prst="roundRect">
            <a:avLst/>
          </a:prstGeom>
          <a:solidFill>
            <a:srgbClr val="E8F0F8"/>
          </a:solidFill>
          <a:ln>
            <a:solidFill>
              <a:srgbClr val="2D6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0" y="23774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6A9F"/>
                </a:solidFill>
                <a:latin typeface="Calibri"/>
              </a:defRPr>
            </a:pPr>
            <a:r>
              <a:t>Step 3: Average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92608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t>Average the K evaluation scores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2286000"/>
            <a:ext cx="2560320" cy="2011680"/>
          </a:xfrm>
          <a:prstGeom prst="roundRect">
            <a:avLst/>
          </a:prstGeom>
          <a:solidFill>
            <a:srgbClr val="FDF6E3"/>
          </a:solidFill>
          <a:ln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18320" y="23774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6C00"/>
                </a:solidFill>
                <a:latin typeface="Calibri"/>
              </a:defRPr>
            </a:pPr>
            <a:r>
              <a:t>Step 4: Select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292608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t>Select α that minimizes CV error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Key Advantage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0" y="5212080"/>
            <a:ext cx="8229600" cy="41148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1A1A2E"/>
                </a:solidFill>
                <a:latin typeface="Calibri"/>
              </a:defRPr>
            </a:pPr>
            <a:r>
              <a:t>Unbiased test error estimate WITHOUT a separate validation set — every data point used for both training and evaluation.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Calibri"/>
              </a:defRPr>
            </a:pPr>
            <a: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6A9F"/>
                </a:solidFill>
                <a:latin typeface="Calibri"/>
              </a:defRPr>
            </a:pPr>
            <a:r>
              <a:t>Experimental Verification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64008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Theory Prediction</a:t>
                      </a:r>
                    </a:p>
                  </a:txBody>
                  <a:tcPr>
                    <a:solidFill>
                      <a:srgbClr val="2D6A9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2D6A9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Result</a:t>
                      </a:r>
                    </a:p>
                  </a:txBody>
                  <a:tcPr>
                    <a:solidFill>
                      <a:srgbClr val="2D6A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U-shaped test 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Polynomial fits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✅ Confirmed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Bias↓ Variance↑ with 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Monte Carlo (200 datasets)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✅ Confirmed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Ridge shrinks coefficients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Ridge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✅ Confirmed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" name="Picture 4" descr="bias_variance_tradeo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1097280"/>
            <a:ext cx="4114800" cy="252220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36576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55555"/>
                </a:solidFill>
                <a:latin typeface="Calibri"/>
              </a:defRPr>
            </a:pPr>
            <a:r>
              <a:t>All three theoretical predictions are confirmed experimentally.</a:t>
            </a:r>
            <a:br/>
            <a:r>
              <a:t>The Monte Carlo simulation with 200 datasets verifies the</a:t>
            </a:r>
            <a:br/>
            <a:r>
              <a:t>bias-variance decomposition quantitatively.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Calibri"/>
              </a:defRPr>
            </a:pPr>
            <a: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6A9F"/>
                </a:solidFill>
                <a:latin typeface="Calibri"/>
              </a:defRPr>
            </a:pPr>
            <a:r>
              <a:t>Beyond Polynomials &amp; Key Takeaways</a:t>
            </a:r>
          </a:p>
        </p:txBody>
      </p:sp>
      <p:pic>
        <p:nvPicPr>
          <p:cNvPr id="4" name="Picture 3" descr="dl_synthetic_overfitt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188720"/>
            <a:ext cx="5029200" cy="12872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754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55555"/>
                </a:solidFill>
                <a:latin typeface="Calibri"/>
              </a:defRPr>
            </a:pPr>
            <a:r>
              <a:t>Same bias-variance principle applies to neural networks.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6A9F"/>
                </a:solidFill>
                <a:latin typeface="Calibri"/>
              </a:defRPr>
            </a:pPr>
            <a:r>
              <a:t>3 Key Takeaways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011680"/>
            <a:ext cx="5303520" cy="1005840"/>
          </a:xfrm>
          <a:prstGeom prst="round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①  Bias-Variance Decomposition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5146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explains the underfitting/overfitting tradeoff mathematically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200400"/>
            <a:ext cx="5303520" cy="1005840"/>
          </a:xfrm>
          <a:prstGeom prst="roundRect">
            <a:avLst/>
          </a:prstGeom>
          <a:solidFill>
            <a:srgbClr val="FDF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0" y="32918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②  Regularization (Ridge L2 / Lasso L1)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37033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controls complexity via norm penalties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4389120"/>
            <a:ext cx="5303520" cy="100584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75120" y="44805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③  Cross-Validation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4892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selects the optimal balance 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Calibri"/>
              </a:defRPr>
            </a:pPr>
            <a: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6A9F"/>
                </a:solidFill>
                <a:latin typeface="Calibri"/>
              </a:defRPr>
            </a:pPr>
            <a:r>
              <a:t>Quick Challenge &amp; Q&amp;A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188720"/>
            <a:ext cx="9144000" cy="1828800"/>
          </a:xfrm>
          <a:prstGeom prst="roundRect">
            <a:avLst/>
          </a:prstGeom>
          <a:solidFill>
            <a:srgbClr val="FDF6E3"/>
          </a:solidFill>
          <a:ln w="25400"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645920" y="1371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6C00"/>
                </a:solidFill>
                <a:latin typeface="Calibri"/>
              </a:defRPr>
            </a:pPr>
            <a:r>
              <a:t>Scenario: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828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  <a:latin typeface="Calibri"/>
              </a:defRPr>
            </a:pPr>
            <a:r>
              <a:t>A model achieves 99% training accuracy but only 60% test accuracy.</a:t>
            </a:r>
            <a:br/>
            <a:br/>
            <a:r>
              <a:t>Q1: Is this overfitting or underfitting?</a:t>
            </a:r>
            <a:br/>
            <a:r>
              <a:t>Q2: What would you recommend to fix it?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3474720"/>
            <a:ext cx="9144000" cy="13716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645920" y="3566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  <a:latin typeface="Calibri"/>
              </a:defRPr>
            </a:pPr>
            <a:r>
              <a:rPr dirty="0"/>
              <a:t>Answer: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40233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A1A2E"/>
                </a:solidFill>
                <a:latin typeface="Calibri"/>
              </a:defRPr>
            </a:pPr>
            <a:r>
              <a:t>Generalization gap = 39%  →  Overfitting (high variance)</a:t>
            </a:r>
            <a:br/>
            <a:r>
              <a:t>→  Add regularization / reduce model complexity / collect more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303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D6A9F"/>
                </a:solidFill>
                <a:latin typeface="Calibri"/>
              </a:defRPr>
            </a:pPr>
            <a:r>
              <a:rPr dirty="0"/>
              <a:t>Thank You — Questions?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Calibri"/>
              </a:defRPr>
            </a:pPr>
            <a:r>
              <a:t>13 / 13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 animBg="1"/>
      <p:bldP spid="8" grpId="0"/>
      <p:bldP spid="8" grpId="1"/>
      <p:bldP spid="9" grpId="0"/>
      <p:bldP spid="9" grpId="1"/>
      <p:bldP spid="10" grpId="0"/>
      <p:bldP spid="10" grpId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1486</Words>
  <Application>Microsoft Office PowerPoint</Application>
  <PresentationFormat>宽屏</PresentationFormat>
  <Paragraphs>146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Xingjian LI</cp:lastModifiedBy>
  <cp:revision>2</cp:revision>
  <dcterms:created xsi:type="dcterms:W3CDTF">2013-01-27T09:14:16Z</dcterms:created>
  <dcterms:modified xsi:type="dcterms:W3CDTF">2026-04-25T09:41:56Z</dcterms:modified>
  <cp:category/>
</cp:coreProperties>
</file>